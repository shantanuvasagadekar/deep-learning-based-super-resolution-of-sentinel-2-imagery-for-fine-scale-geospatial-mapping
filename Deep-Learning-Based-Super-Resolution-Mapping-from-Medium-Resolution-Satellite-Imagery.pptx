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embeddedFontLst>
    <p:embeddedFont>
      <p:font typeface="Bitter Medium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Open Sans Bold" panose="020B0806030504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85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1618059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Deep Learning-Based Super-Resolution Mapping from Medium-Resolution Satellite Imagery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56261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Enhancing Satellite Imagery for Detailed Geospatial Mapping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4635004"/>
            <a:ext cx="6171240" cy="1943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Shantanu </a:t>
            </a:r>
            <a:r>
              <a:rPr lang="en-US" sz="14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Vasagadekar</a:t>
            </a: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(1012412110)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Aniruddha Kadam (1012412113)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Shrihari</a:t>
            </a: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Kshirsagar</a:t>
            </a: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(1012412139)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9E04F2-E46D-4410-BF3A-2DD856FDD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5633"/>
            <a:ext cx="5088727" cy="47667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583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 &amp; Motivation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1902670" y="2636341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Agriculture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045023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Crop boundaries, field health monitoring, precision agriculture support.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604330" y="2636341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Urban Planning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3045023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Mapping small buildings, narrow roads, and informal structures.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636341"/>
            <a:ext cx="1004962" cy="621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636341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Environmental Monitoring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3340298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small water bodies and fine vegetation patterns.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446732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Problem:</a:t>
            </a:r>
            <a:b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Sentinel-2 imagery has a spatial resolution of 10 m for its highest-resolution bands, which limits the visibility and analysis of small-scale spatial features.</a:t>
            </a:r>
          </a:p>
          <a:p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Goal:</a:t>
            </a:r>
            <a:b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deep-learning-based super-resolution to reconstruct finer spatial details from Sentinel-2 imagery, producing enhanced-resolution imagery that can support more detailed and actionable GIS analysis.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AutoShape 2" descr="Agricultural Land Wallpapers - Top Free Agricultural Land Backgrounds ...">
            <a:extLst>
              <a:ext uri="{FF2B5EF4-FFF2-40B4-BE49-F238E27FC236}">
                <a16:creationId xmlns:a16="http://schemas.microsoft.com/office/drawing/2014/main" id="{467C7F15-830E-4135-BDEB-7A62DB4282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C961F7-610D-4B15-A604-076081921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10" y="2667330"/>
            <a:ext cx="1278691" cy="8524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F0482D-CDFF-4C47-B669-A50E0B9DC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248" y="2667330"/>
            <a:ext cx="1133077" cy="7553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6065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037556"/>
            <a:ext cx="5203794" cy="16442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Wide coverage but limited spatial detail at 10 m.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Conventional interpolation (nearest, bilinear, bicubic) enlarges pixels without learning structure.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 objects (narrow roads, small buildings) remain unresolved.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332776" y="1376065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Objectives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332776" y="2037556"/>
            <a:ext cx="5203794" cy="305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Acquire and preprocess Sentinel-2 imagery for a selected AOI.</a:t>
            </a:r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Construct training pairs using controlled degradation/</a:t>
            </a:r>
            <a:r>
              <a:rPr lang="en-US" sz="14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downsampling</a:t>
            </a: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 and train a deep-learning super-resolution model.</a:t>
            </a:r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Generate enhanced-resolution imagery and evaluate its quality.</a:t>
            </a:r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Assess whether super-resolution improves geographic feature extraction and segmentation.</a:t>
            </a:r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Visualize and export the resulting GIS information.</a:t>
            </a:r>
          </a:p>
        </p:txBody>
      </p:sp>
      <p:sp>
        <p:nvSpPr>
          <p:cNvPr id="6" name="Text 4"/>
          <p:cNvSpPr/>
          <p:nvPr/>
        </p:nvSpPr>
        <p:spPr>
          <a:xfrm>
            <a:off x="356682" y="536842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539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Satellite Data and Preparation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92970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1841401"/>
            <a:ext cx="5770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766251" y="2616299"/>
            <a:ext cx="5511349" cy="250448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Autofit/>
          </a:bodyPr>
          <a:lstStyle/>
          <a:p>
            <a:pPr algn="just"/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Source &amp; Preparation</a:t>
            </a:r>
          </a:p>
          <a:p>
            <a:pPr algn="just"/>
            <a:endParaRPr lang="en-US" sz="14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Sentinel-2 MSI Level-2A imagery at 10 m resolution (B2, B3, B4, B8) is collected for the selected AOI in Poland.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Images are cloud-masked, aligned, normalized, and divided into patches.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Higher-resolution reference images are </a:t>
            </a:r>
            <a:r>
              <a:rPr lang="en-US" sz="14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downsampled</a:t>
            </a: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create paired training data.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pairs train the model to learn low-resolution → high-resolution spatial enhancement.</a:t>
            </a:r>
          </a:p>
          <a:p>
            <a:pPr algn="l">
              <a:lnSpc>
                <a:spcPct val="133000"/>
              </a:lnSpc>
              <a:buSzPct val="100000"/>
            </a:pPr>
            <a:endParaRPr lang="en-US" sz="14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639987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Proposed System — End-to-End Architecture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61475" y="2868414"/>
            <a:ext cx="3053877" cy="2349599"/>
          </a:xfrm>
          <a:prstGeom prst="roundRect">
            <a:avLst>
              <a:gd name="adj" fmla="val 3379"/>
            </a:avLst>
          </a:prstGeom>
          <a:solidFill>
            <a:srgbClr val="FFF8F0"/>
          </a:solidFill>
          <a:ln w="25399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5881" y="3082826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Outputs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491508"/>
            <a:ext cx="26250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Enhanced satellite image (visual &amp; spectral fidelity)  2. Intelligent geographic map (features + attributes)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868414"/>
            <a:ext cx="3053976" cy="2349599"/>
          </a:xfrm>
          <a:prstGeom prst="roundRect">
            <a:avLst>
              <a:gd name="adj" fmla="val 3379"/>
            </a:avLst>
          </a:prstGeom>
          <a:solidFill>
            <a:srgbClr val="FFF8F0"/>
          </a:solidFill>
          <a:ln w="25399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8765" y="3082826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Notes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118765" y="3491508"/>
            <a:ext cx="2625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scope: software-only, implementable within a mini-project timeline. Emphasis on reproducible pipeline rather than novel claims.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D96B26-BFCD-4168-ADC4-459B2735B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669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Super-Resolution Model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43163"/>
            <a:ext cx="5203794" cy="1952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66069" y="3846245"/>
            <a:ext cx="784877" cy="302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29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Reconstruction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876909" y="3921845"/>
            <a:ext cx="784877" cy="15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29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Upsampling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893125" y="3846245"/>
            <a:ext cx="784877" cy="302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29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Residual &amp; Attention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909341" y="3846245"/>
            <a:ext cx="784877" cy="302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29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Feature Extraction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04054" y="3921845"/>
            <a:ext cx="784877" cy="15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kern="0" spc="-29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Input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1475" y="460851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learns mappings from LR to HR using adversarial and perceptual losses; ESRGAN used as the primary example.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776" y="1795264"/>
            <a:ext cx="472468" cy="472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1478" y="1795264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Core components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7041478" y="2279551"/>
            <a:ext cx="44950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extractor, residual/attention blocks, upsampling (pixel-shuffle), reconstruction head.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2776" y="3262412"/>
            <a:ext cx="472468" cy="472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1478" y="3262412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Alternative models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7041478" y="3746698"/>
            <a:ext cx="44950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SRCNN, EDSR, ESRGAN, SwinIR — chosen based on accuracy vs compute trade-offs.</a:t>
            </a:r>
            <a:endParaRPr lang="en-US" sz="1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2776" y="4729559"/>
            <a:ext cx="472468" cy="472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41478" y="4729559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Design goal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7041478" y="5213846"/>
            <a:ext cx="44950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Reconstruct meaningful spatial patterns (edges, small objects), not only resize pixels.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754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From Enhanced Image to Intelligent Map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32434"/>
            <a:ext cx="5203794" cy="294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03549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Pipeline:       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2676029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Super-resolved imagery → semantic segmentation model (U-Net / DeepLab variants).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Classify pixels into target classes: Buildings, Roads, Vegetation, Water, Bare Land.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Post-processing: morphological cleaning, vectorization, topology checks.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4792762"/>
            <a:ext cx="5203794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Example classes: </a:t>
            </a:r>
            <a:r>
              <a:rPr lang="en-US" sz="1450" kern="0" spc="-3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🟥</a:t>
            </a: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Buildings  •  </a:t>
            </a:r>
            <a:r>
              <a:rPr lang="en-US" sz="1450" kern="0" spc="-3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🟨</a:t>
            </a: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Roads  •  </a:t>
            </a:r>
            <a:r>
              <a:rPr lang="en-US" sz="1450" kern="0" spc="-3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🟩</a:t>
            </a: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Vegetation  •  </a:t>
            </a:r>
            <a:r>
              <a:rPr lang="en-US" sz="1450" kern="0" spc="-3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🟦</a:t>
            </a: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Water  •  </a:t>
            </a:r>
            <a:r>
              <a:rPr lang="en-US" sz="1450" kern="0" spc="-3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🟫</a:t>
            </a: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Bare Land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381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Evaluation Metrics &amp; Practical Applications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9087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Evaluation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93057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Super-resolution: PSNR, SSIM, spectral similarity, edge-preservation metrics.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Mapping: IoU, Precision, Recall, F1-score for segmentation classes.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Uncertainty visualization: per-pixel confidence maps and error masks.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9087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Applications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393057"/>
            <a:ext cx="5203794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Urban planning — detect small structures and narrow roads.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Agriculture — delineate field boundaries and crop patches.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Disaster response — improve mapping of flood-affected small water channels.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Environmental monitoring — track small water bodies and fine vegetation changes.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528935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92473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 &amp; Future Scope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61475" y="1648420"/>
            <a:ext cx="3053877" cy="2954437"/>
          </a:xfrm>
          <a:prstGeom prst="roundRect">
            <a:avLst>
              <a:gd name="adj" fmla="val 2687"/>
            </a:avLst>
          </a:prstGeom>
          <a:solidFill>
            <a:srgbClr val="FFF8F0"/>
          </a:solidFill>
          <a:ln w="25399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5881" y="1862832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271514"/>
            <a:ext cx="262506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Sentinel-2 inputs, deep-learning super-resolution, semantic segmentation and GIS visualization to transform medium-resolution imagery into usable geospatial maps.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1648420"/>
            <a:ext cx="3053976" cy="2954437"/>
          </a:xfrm>
          <a:prstGeom prst="roundRect">
            <a:avLst>
              <a:gd name="adj" fmla="val 2687"/>
            </a:avLst>
          </a:prstGeom>
          <a:solidFill>
            <a:srgbClr val="FFF8F0"/>
          </a:solidFill>
          <a:ln w="25399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8765" y="1862832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Scope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118765" y="2271514"/>
            <a:ext cx="26251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Transformer-based SR, diffusion models, multispectral SR, SAR-optical fusion, automated change detection, crop monitoring, scalable cloud deployment.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862711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2B2E3C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5147965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b="1" kern="0" spc="-3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Thank you — Questions?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635</Words>
  <Application>Microsoft Office PowerPoint</Application>
  <PresentationFormat>Widescreen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Bitter Medium</vt:lpstr>
      <vt:lpstr>Open Sans Bold</vt:lpstr>
      <vt:lpstr>Open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Student</cp:lastModifiedBy>
  <cp:revision>9</cp:revision>
  <dcterms:created xsi:type="dcterms:W3CDTF">2026-08-24T05:39:30Z</dcterms:created>
  <dcterms:modified xsi:type="dcterms:W3CDTF">2026-08-24T06:05:10Z</dcterms:modified>
</cp:coreProperties>
</file>